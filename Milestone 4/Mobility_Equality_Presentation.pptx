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6E9B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A2E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Anna Nagar</c:v>
                  </c:pt>
                  <c:pt idx="1">
                    <c:v>Adyar</c:v>
                  </c:pt>
                  <c:pt idx="2">
                    <c:v>Guindy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91.5</c:v>
                </c:pt>
                <c:pt idx="1">
                  <c:v>90.2</c:v>
                </c:pt>
                <c:pt idx="2">
                  <c:v>87.3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3A2E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E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5DE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5F5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A2E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Red Hills</c:v>
                  </c:pt>
                  <c:pt idx="1">
                    <c:v>Madhavaram</c:v>
                  </c:pt>
                  <c:pt idx="2">
                    <c:v>Perambur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47.5</c:v>
                </c:pt>
                <c:pt idx="1">
                  <c:v>49</c:v>
                </c:pt>
                <c:pt idx="2">
                  <c:v>52.3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3A2E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E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5DE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5F5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6E9B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3A2E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E9B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9A6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High Income</c:v>
                  </c:pt>
                  <c:pt idx="1">
                    <c:v>Middle Income</c:v>
                  </c:pt>
                  <c:pt idx="2">
                    <c:v>Low Income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74.5</c:v>
                </c:pt>
                <c:pt idx="1">
                  <c:v>72.7</c:v>
                </c:pt>
                <c:pt idx="2">
                  <c:v>69.9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3A2E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2E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12700" cap="flat">
              <a:solidFill>
                <a:srgbClr val="E5DE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5F5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3A2E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Central</c:v>
                  </c:pt>
                  <c:pt idx="1">
                    <c:v>South</c:v>
                  </c:pt>
                  <c:pt idx="2">
                    <c:v>North</c:v>
                  </c:pt>
                  <c:pt idx="3">
                    <c:v>West</c:v>
                  </c:pt>
                  <c:pt idx="4">
                    <c:v>East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291501</c:v>
                </c:pt>
                <c:pt idx="1">
                  <c:v>236857</c:v>
                </c:pt>
                <c:pt idx="2">
                  <c:v>204041</c:v>
                </c:pt>
                <c:pt idx="3">
                  <c:v>193343</c:v>
                </c:pt>
                <c:pt idx="4">
                  <c:v>160790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3A2E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2E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DE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5F5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image" Target="../media/image-3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image" Target="../media/image-6-1.png"/><Relationship Id="rId8" Type="http://schemas.openxmlformats.org/officeDocument/2006/relationships/image" Target="../media/image-6-1.png"/><Relationship Id="rId9" Type="http://schemas.openxmlformats.org/officeDocument/2006/relationships/image" Target="../media/image-6-1.png"/><Relationship Id="rId10" Type="http://schemas.openxmlformats.org/officeDocument/2006/relationships/image" Target="../media/image-6-1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943600"/>
            <a:ext cx="2560320" cy="256032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5486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5" name="Image 0" descr="/home/claude/icons/nav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378" y="69265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56692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MOBILITY STUDY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Mobility Equality &amp;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Mobility Access Index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94360" y="40690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look at how easy it is for people to travel across Chennai —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which areas need more help.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" y="5074920"/>
            <a:ext cx="201168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the Mobility Equality Power BI Dashboard  •  January – August 2026  •  20 Chennai Areas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simple parts — no technical jargon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26030" cy="3383280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/home/claude/icons/barch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411" y="246545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08960"/>
            <a:ext cx="19773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The Big Picture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749040"/>
            <a:ext cx="197739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city score for mobility access and coverage.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94710" y="2011680"/>
            <a:ext cx="2526030" cy="3383280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14750" y="2331720"/>
            <a:ext cx="594360" cy="59436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11" name="Image 1" descr="/home/claude/icons/mapp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481" y="246545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69030" y="3108960"/>
            <a:ext cx="19773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Best &amp; Worst Areas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69030" y="3749040"/>
            <a:ext cx="197739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areas have good transport, and which need help.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40780" y="2011680"/>
            <a:ext cx="2526030" cy="3383280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60820" y="2331720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6" name="Image 2" descr="/home/claude/icons/trend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551" y="246545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15100" y="3108960"/>
            <a:ext cx="19773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Travel Demand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15100" y="3749040"/>
            <a:ext cx="197739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where people need rides the most.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86850" y="2011680"/>
            <a:ext cx="2526030" cy="3383280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06890" y="2331720"/>
            <a:ext cx="594360" cy="59436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21" name="Image 3" descr="/home/claude/icons/targe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0621" y="246545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61170" y="3108960"/>
            <a:ext cx="19773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What We Recommend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361170" y="3749040"/>
            <a:ext cx="197739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clear next steps to fix the gaps.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Equality &amp; Access — Chennai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We Mean by "Mobility Access"?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words, before we look at the numbers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Access is just a simple way to ask: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035040" cy="914400"/>
          </a:xfrm>
          <a:prstGeom prst="roundRect">
            <a:avLst>
              <a:gd name="adj" fmla="val 12000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people get from one place to another</a:t>
            </a:r>
            <a:endParaRPr lang="en-US" sz="160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quickly, safely, and easily?”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8" name="Image 0" descr="/home/claude/icons/tru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51" y="3286811"/>
            <a:ext cx="211226" cy="2112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182112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buses, autos, and vehicles are available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767328"/>
            <a:ext cx="384048" cy="384048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11" name="Image 1" descr="/home/claude/icons/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51" y="3853739"/>
            <a:ext cx="211226" cy="2112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74904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people wait, and how long the trip takes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334256"/>
            <a:ext cx="384048" cy="384048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14" name="Image 2" descr="/home/claude/icons/mapp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4420667"/>
            <a:ext cx="211226" cy="21122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431596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bus stops and transport points are nearby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949440" y="1554480"/>
            <a:ext cx="466344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223760" y="1783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score every area from 0 to 100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223760" y="242316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FBF9F5"/>
          </a:solidFill>
          <a:ln/>
        </p:spPr>
      </p:sp>
      <p:sp>
        <p:nvSpPr>
          <p:cNvPr id="19" name="Shape 14"/>
          <p:cNvSpPr/>
          <p:nvPr/>
        </p:nvSpPr>
        <p:spPr>
          <a:xfrm>
            <a:off x="7370064" y="2651760"/>
            <a:ext cx="502920" cy="50292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20" name="Image 3" descr="/home/claude/icon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794" y="277749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0100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Served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00100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transport access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921240" y="2423160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– 100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7223760" y="3538728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FBF9F5"/>
          </a:solidFill>
          <a:ln/>
        </p:spPr>
      </p:sp>
      <p:sp>
        <p:nvSpPr>
          <p:cNvPr id="25" name="Shape 19"/>
          <p:cNvSpPr/>
          <p:nvPr/>
        </p:nvSpPr>
        <p:spPr>
          <a:xfrm>
            <a:off x="7370064" y="3767328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6" name="Image 4" descr="/home/claude/icons/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5794" y="3893058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01000" y="36301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Moderately Served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001000" y="39959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gaps to fix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9921240" y="3538728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– 69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7223760" y="4654296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FBF9F5"/>
          </a:solidFill>
          <a:ln/>
        </p:spPr>
      </p:sp>
      <p:sp>
        <p:nvSpPr>
          <p:cNvPr id="31" name="Shape 24"/>
          <p:cNvSpPr/>
          <p:nvPr/>
        </p:nvSpPr>
        <p:spPr>
          <a:xfrm>
            <a:off x="7370064" y="4882896"/>
            <a:ext cx="502920" cy="502920"/>
          </a:xfrm>
          <a:prstGeom prst="ellipse">
            <a:avLst/>
          </a:prstGeom>
          <a:solidFill>
            <a:srgbClr val="7A362C"/>
          </a:solidFill>
          <a:ln/>
        </p:spPr>
      </p:sp>
      <p:pic>
        <p:nvPicPr>
          <p:cNvPr id="32" name="Image 5" descr="/home/claude/icons/che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5794" y="5008626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001000" y="47457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001000" y="511149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urgent attention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9921240" y="4654296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50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Equality &amp; Access — Chennai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4712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 for Chennai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overall score, based on 1,000 records across 20 areas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2603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6" name="Image 0" descr="/home/claude/icons/targ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1602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06040"/>
            <a:ext cx="216027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71.8 / 100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21602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Mobility Access Score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94710" y="1828800"/>
            <a:ext cx="252603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23310" y="205740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11" name="Image 1" descr="/home/claude/icons/tru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216027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7590" y="2606040"/>
            <a:ext cx="216027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71.7%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577590" y="3657600"/>
            <a:ext cx="21602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Service Coverage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40780" y="1828800"/>
            <a:ext cx="252603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69380" y="205740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16" name="Image 2" descr="/home/claude/icons/clo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216027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3660" y="2606040"/>
            <a:ext cx="216027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31.8 min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6423660" y="3657600"/>
            <a:ext cx="21602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Travel Time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86850" y="1828800"/>
            <a:ext cx="252603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15450" y="205740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21" name="Image 3" descr="/home/claude/icons/ale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16027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69730" y="2606040"/>
            <a:ext cx="216027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of 20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9269730" y="3657600"/>
            <a:ext cx="21602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Are Underserved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B85042"/>
          </a:solidFill>
          <a:ln/>
        </p:spPr>
      </p:sp>
      <p:sp>
        <p:nvSpPr>
          <p:cNvPr id="25" name="Shape 19"/>
          <p:cNvSpPr/>
          <p:nvPr/>
        </p:nvSpPr>
        <p:spPr>
          <a:xfrm>
            <a:off x="822960" y="4709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icons/check_B8504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483260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45720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words: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554480" y="4892040"/>
            <a:ext cx="9692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Chennai's overall mobility score is 71.8 out of 100 — that is a decent, “moderate” score. But it hides a big gap: half of the city's areas are doing well, while 10 areas are struggling with poor transport access.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Equality &amp; Access — Chennai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4712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Areas vs. Areas That Need Help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Access Score by area (out of 100)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7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Best Served Areas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50876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3 — Areas Needing Attention</a:t>
            </a:r>
            <a:endParaRPr lang="en-US" sz="15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192024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Equality &amp; Access — Chennai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4712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Areas Need Attention Right 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below 60 out of 100 — this is our warning 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2996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57400"/>
            <a:ext cx="365760" cy="365760"/>
          </a:xfrm>
          <a:prstGeom prst="ellipse">
            <a:avLst/>
          </a:prstGeom>
          <a:solidFill>
            <a:srgbClr val="7A362C"/>
          </a:solidFill>
          <a:ln/>
        </p:spPr>
      </p:sp>
      <p:pic>
        <p:nvPicPr>
          <p:cNvPr id="6" name="Image 0" descr="/home/claude/icons/mapp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3969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48716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Hills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283464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47.5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44368" y="2057400"/>
            <a:ext cx="365760" cy="365760"/>
          </a:xfrm>
          <a:prstGeom prst="ellipse">
            <a:avLst/>
          </a:prstGeom>
          <a:solidFill>
            <a:srgbClr val="7A362C"/>
          </a:solidFill>
          <a:ln/>
        </p:spPr>
      </p:sp>
      <p:pic>
        <p:nvPicPr>
          <p:cNvPr id="11" name="Image 1" descr="/home/claude/icons/mapp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664" y="213969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4368" y="248716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Madhavaram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944368" y="283464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49.0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065776" y="1920240"/>
            <a:ext cx="202996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02936" y="2057400"/>
            <a:ext cx="365760" cy="365760"/>
          </a:xfrm>
          <a:prstGeom prst="ellipse">
            <a:avLst/>
          </a:prstGeom>
          <a:solidFill>
            <a:srgbClr val="7A362C"/>
          </a:solidFill>
          <a:ln/>
        </p:spPr>
      </p:sp>
      <p:pic>
        <p:nvPicPr>
          <p:cNvPr id="16" name="Image 2" descr="/home/claude/icons/mapp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2139696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02936" y="248716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Perambur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202936" y="283464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52.3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7324344" y="1920240"/>
            <a:ext cx="202996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61504" y="2057400"/>
            <a:ext cx="365760" cy="365760"/>
          </a:xfrm>
          <a:prstGeom prst="ellipse">
            <a:avLst/>
          </a:prstGeom>
          <a:solidFill>
            <a:srgbClr val="7A362C"/>
          </a:solidFill>
          <a:ln/>
        </p:spPr>
      </p:sp>
      <p:pic>
        <p:nvPicPr>
          <p:cNvPr id="21" name="Image 3" descr="/home/claude/icons/mappi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2139696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61504" y="248716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Tambaram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61504" y="283464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59.8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9582912" y="1920240"/>
            <a:ext cx="202996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720072" y="2057400"/>
            <a:ext cx="365760" cy="365760"/>
          </a:xfrm>
          <a:prstGeom prst="ellipse">
            <a:avLst/>
          </a:prstGeom>
          <a:solidFill>
            <a:srgbClr val="7A362C"/>
          </a:solidFill>
          <a:ln/>
        </p:spPr>
      </p:sp>
      <p:pic>
        <p:nvPicPr>
          <p:cNvPr id="26" name="Image 4" descr="/home/claude/icons/mappin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2139696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20072" y="248716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Avadi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720072" y="283464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60.7</a:t>
            </a:r>
            <a:endParaRPr lang="en-US" sz="1700" dirty="0"/>
          </a:p>
        </p:txBody>
      </p:sp>
      <p:sp>
        <p:nvSpPr>
          <p:cNvPr id="29" name="Shape 22"/>
          <p:cNvSpPr/>
          <p:nvPr/>
        </p:nvSpPr>
        <p:spPr>
          <a:xfrm>
            <a:off x="548640" y="3611880"/>
            <a:ext cx="202996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85800" y="3749040"/>
            <a:ext cx="365760" cy="365760"/>
          </a:xfrm>
          <a:prstGeom prst="ellipse">
            <a:avLst/>
          </a:prstGeom>
          <a:solidFill>
            <a:srgbClr val="7A362C"/>
          </a:solidFill>
          <a:ln/>
        </p:spPr>
      </p:sp>
      <p:pic>
        <p:nvPicPr>
          <p:cNvPr id="31" name="Image 5" descr="/home/claude/icons/mappin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3831336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" y="41788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Chromepet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85800" y="452628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64.0</a:t>
            </a:r>
            <a:endParaRPr lang="en-US" sz="1700" dirty="0"/>
          </a:p>
        </p:txBody>
      </p:sp>
      <p:sp>
        <p:nvSpPr>
          <p:cNvPr id="34" name="Shape 26"/>
          <p:cNvSpPr/>
          <p:nvPr/>
        </p:nvSpPr>
        <p:spPr>
          <a:xfrm>
            <a:off x="2807208" y="3611880"/>
            <a:ext cx="202996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944368" y="3749040"/>
            <a:ext cx="365760" cy="365760"/>
          </a:xfrm>
          <a:prstGeom prst="ellipse">
            <a:avLst/>
          </a:prstGeom>
          <a:solidFill>
            <a:srgbClr val="7A362C"/>
          </a:solidFill>
          <a:ln/>
        </p:spPr>
      </p:sp>
      <p:pic>
        <p:nvPicPr>
          <p:cNvPr id="36" name="Image 6" descr="/home/claude/icons/mappin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6664" y="3831336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944368" y="41788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Washermanpet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2944368" y="452628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64.1</a:t>
            </a:r>
            <a:endParaRPr lang="en-US" sz="1700" dirty="0"/>
          </a:p>
        </p:txBody>
      </p:sp>
      <p:sp>
        <p:nvSpPr>
          <p:cNvPr id="39" name="Shape 30"/>
          <p:cNvSpPr/>
          <p:nvPr/>
        </p:nvSpPr>
        <p:spPr>
          <a:xfrm>
            <a:off x="5065776" y="3611880"/>
            <a:ext cx="202996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5202936" y="3749040"/>
            <a:ext cx="365760" cy="365760"/>
          </a:xfrm>
          <a:prstGeom prst="ellipse">
            <a:avLst/>
          </a:prstGeom>
          <a:solidFill>
            <a:srgbClr val="7A362C"/>
          </a:solidFill>
          <a:ln/>
        </p:spPr>
      </p:sp>
      <p:pic>
        <p:nvPicPr>
          <p:cNvPr id="41" name="Image 7" descr="/home/claude/icons/mappin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5232" y="3831336"/>
            <a:ext cx="201168" cy="20116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202936" y="41788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Ambattur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5202936" y="452628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69.3</a:t>
            </a:r>
            <a:endParaRPr lang="en-US" sz="1700" dirty="0"/>
          </a:p>
        </p:txBody>
      </p:sp>
      <p:sp>
        <p:nvSpPr>
          <p:cNvPr id="44" name="Shape 34"/>
          <p:cNvSpPr/>
          <p:nvPr/>
        </p:nvSpPr>
        <p:spPr>
          <a:xfrm>
            <a:off x="7324344" y="3611880"/>
            <a:ext cx="202996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7461504" y="3749040"/>
            <a:ext cx="365760" cy="365760"/>
          </a:xfrm>
          <a:prstGeom prst="ellipse">
            <a:avLst/>
          </a:prstGeom>
          <a:solidFill>
            <a:srgbClr val="7A362C"/>
          </a:solidFill>
          <a:ln/>
        </p:spPr>
      </p:sp>
      <p:pic>
        <p:nvPicPr>
          <p:cNvPr id="46" name="Image 8" descr="/home/claude/icons/mappin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3800" y="3831336"/>
            <a:ext cx="201168" cy="20116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461504" y="41788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Porur</a:t>
            </a:r>
            <a:endParaRPr lang="en-US" sz="1250" dirty="0"/>
          </a:p>
        </p:txBody>
      </p:sp>
      <p:sp>
        <p:nvSpPr>
          <p:cNvPr id="48" name="Text 37"/>
          <p:cNvSpPr/>
          <p:nvPr/>
        </p:nvSpPr>
        <p:spPr>
          <a:xfrm>
            <a:off x="7461504" y="452628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71.6</a:t>
            </a:r>
            <a:endParaRPr lang="en-US" sz="1700" dirty="0"/>
          </a:p>
        </p:txBody>
      </p:sp>
      <p:sp>
        <p:nvSpPr>
          <p:cNvPr id="49" name="Shape 38"/>
          <p:cNvSpPr/>
          <p:nvPr/>
        </p:nvSpPr>
        <p:spPr>
          <a:xfrm>
            <a:off x="9582912" y="3611880"/>
            <a:ext cx="202996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9720072" y="3749040"/>
            <a:ext cx="365760" cy="365760"/>
          </a:xfrm>
          <a:prstGeom prst="ellipse">
            <a:avLst/>
          </a:prstGeom>
          <a:solidFill>
            <a:srgbClr val="7A362C"/>
          </a:solidFill>
          <a:ln/>
        </p:spPr>
      </p:sp>
      <p:pic>
        <p:nvPicPr>
          <p:cNvPr id="51" name="Image 9" descr="/home/claude/icons/mappin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2368" y="3831336"/>
            <a:ext cx="201168" cy="201168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720072" y="41788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Thoraipakkam</a:t>
            </a:r>
            <a:endParaRPr lang="en-US" sz="1250" dirty="0"/>
          </a:p>
        </p:txBody>
      </p:sp>
      <p:sp>
        <p:nvSpPr>
          <p:cNvPr id="53" name="Text 41"/>
          <p:cNvSpPr/>
          <p:nvPr/>
        </p:nvSpPr>
        <p:spPr>
          <a:xfrm>
            <a:off x="9720072" y="452628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72.3</a:t>
            </a:r>
            <a:endParaRPr lang="en-US" sz="1700" dirty="0"/>
          </a:p>
        </p:txBody>
      </p:sp>
      <p:sp>
        <p:nvSpPr>
          <p:cNvPr id="54" name="Text 42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10 areas cover half of the city's zones. People here wait longer, have fewer buses and autos, and travel takes more time than the city average.</a:t>
            </a:r>
            <a:endParaRPr lang="en-US" sz="1300" dirty="0"/>
          </a:p>
        </p:txBody>
      </p:sp>
      <p:sp>
        <p:nvSpPr>
          <p:cNvPr id="55" name="Text 43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Equality &amp; Access — Chennai</a:t>
            </a:r>
            <a:endParaRPr lang="en-US" sz="900" dirty="0"/>
          </a:p>
        </p:txBody>
      </p:sp>
      <p:sp>
        <p:nvSpPr>
          <p:cNvPr id="56" name="Text 44"/>
          <p:cNvSpPr/>
          <p:nvPr/>
        </p:nvSpPr>
        <p:spPr>
          <a:xfrm>
            <a:off x="1124712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Income Level Change Mobility Access?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Mobility Access Score, split by income group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828800"/>
            <a:ext cx="475488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0" y="210312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7" name="Image 0" descr="/home/claude/icons/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477" y="2216277"/>
            <a:ext cx="276606" cy="2766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tells us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132320" y="2862072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6"/>
          <p:cNvSpPr/>
          <p:nvPr/>
        </p:nvSpPr>
        <p:spPr>
          <a:xfrm>
            <a:off x="7406640" y="271576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gap of about 5 points between High and Low income groups.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132320" y="3822192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8"/>
          <p:cNvSpPr/>
          <p:nvPr/>
        </p:nvSpPr>
        <p:spPr>
          <a:xfrm>
            <a:off x="7406640" y="367588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income areas score 69.9 — closer to the “needs improvement” range.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132320" y="4782312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0"/>
          <p:cNvSpPr/>
          <p:nvPr/>
        </p:nvSpPr>
        <p:spPr>
          <a:xfrm>
            <a:off x="7406640" y="463600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huge, but it shows transport planning should not leave low-income areas behind.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Equality &amp; Access — Chennai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4712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Do People Want to Travel?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demand across the city, January to August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6" name="Image 0" descr="/home/claude/icons/activit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0688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146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10.9 Lakh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Rides Requested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96596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11" name="Image 1" descr="/home/claude/icons/trend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206883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5146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620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4526280" y="31089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Demand in One Hour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96596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16" name="Image 2" descr="/home/claude/icons/tru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630" y="206883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5146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187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8321040" y="31089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Vehicles Available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110642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21" name="Image 3" descr="/home/claude/icons/clo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12623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0233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pattern we found: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463040" y="443484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rises in the morning when people go to work, dips in the afternoon, and rises again in the evening when people return home. The busiest single hour was 7 PM on 15 January, during heavy rain — this tells us rain and rush hour together create the biggest demand spikes.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Equality &amp; Access — Chennai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Part of the City Needs the Most Rides?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ride demand by zone, January to August 2026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83080"/>
            <a:ext cx="3840480" cy="4206240"/>
          </a:xfrm>
          <a:prstGeom prst="roundRect">
            <a:avLst>
              <a:gd name="adj" fmla="val 3333"/>
            </a:avLst>
          </a:prstGeom>
          <a:solidFill>
            <a:srgbClr val="B85042"/>
          </a:solidFill>
          <a:ln/>
        </p:spPr>
      </p:sp>
      <p:sp>
        <p:nvSpPr>
          <p:cNvPr id="6" name="Shape 3"/>
          <p:cNvSpPr/>
          <p:nvPr/>
        </p:nvSpPr>
        <p:spPr>
          <a:xfrm>
            <a:off x="8046720" y="2057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icons/mappin_B850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877" y="2170557"/>
            <a:ext cx="276606" cy="2766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6720" y="2697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Zone leads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046720" y="32004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has the highest demand for rides — nearly 30% more than East zone, the lowest.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046720" y="4343400"/>
            <a:ext cx="329184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046720" y="45720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Central zone should get priority when adding new vehicles or drivers.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Equality &amp; Access — Chennai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Moments Where Demand Suddenly Spiked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events found in the data — worth planning for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2976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7A362C"/>
          </a:solidFill>
          <a:ln/>
        </p:spPr>
      </p:sp>
      <p:pic>
        <p:nvPicPr>
          <p:cNvPr id="6" name="Image 0" descr="/home/claude/icons/ra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691" y="219113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756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00200" y="2331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Zone — Heavy Rain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834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January 2026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3200400"/>
            <a:ext cx="4846320" cy="685800"/>
          </a:xfrm>
          <a:prstGeom prst="roundRect">
            <a:avLst>
              <a:gd name="adj" fmla="val 10667"/>
            </a:avLst>
          </a:prstGeom>
          <a:solidFill>
            <a:srgbClr val="E7E8D1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2004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620 rides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40690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145 vehicles were available. Average delay jumped to 32 minutes.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4983480"/>
            <a:ext cx="4846320" cy="0"/>
          </a:xfrm>
          <a:prstGeom prst="line">
            <a:avLst/>
          </a:prstGeom>
          <a:noFill/>
          <a:ln w="19050">
            <a:solidFill>
              <a:srgbClr val="E7E8D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074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5349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extra vehicles to Central zone before evening rain starts.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17920" y="1783080"/>
            <a:ext cx="5394960" cy="42976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92240" y="2057400"/>
            <a:ext cx="594360" cy="594360"/>
          </a:xfrm>
          <a:prstGeom prst="ellipse">
            <a:avLst/>
          </a:prstGeom>
          <a:solidFill>
            <a:srgbClr val="7A362C"/>
          </a:solidFill>
          <a:ln/>
        </p:spPr>
      </p:sp>
      <p:pic>
        <p:nvPicPr>
          <p:cNvPr id="18" name="Image 1" descr="/home/claude/icons/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971" y="2191131"/>
            <a:ext cx="326898" cy="32689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69480" y="20756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269480" y="2331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 Zone — Morning Peak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92240" y="2834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January 2026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492240" y="3200400"/>
            <a:ext cx="4846320" cy="685800"/>
          </a:xfrm>
          <a:prstGeom prst="roundRect">
            <a:avLst>
              <a:gd name="adj" fmla="val 10667"/>
            </a:avLst>
          </a:prstGeom>
          <a:solidFill>
            <a:srgbClr val="E7E8D1"/>
          </a:solidFill>
          <a:ln/>
        </p:spPr>
      </p:sp>
      <p:sp>
        <p:nvSpPr>
          <p:cNvPr id="23" name="Text 19"/>
          <p:cNvSpPr/>
          <p:nvPr/>
        </p:nvSpPr>
        <p:spPr>
          <a:xfrm>
            <a:off x="6675120" y="32004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470 rides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6492240" y="40690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82 vehicles were available. Average delay reached 27 minutes.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492240" y="4983480"/>
            <a:ext cx="4846320" cy="0"/>
          </a:xfrm>
          <a:prstGeom prst="line">
            <a:avLst/>
          </a:prstGeom>
          <a:noFill/>
          <a:ln w="19050">
            <a:solidFill>
              <a:srgbClr val="E7E8D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92240" y="5074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do: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492240" y="5349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vehicles in South zone before the 7–8 AM rush.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Equality &amp; Access — Chennai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4712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Recommend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simple, practical steps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74720" cy="420624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C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46120" y="2148840"/>
            <a:ext cx="502920" cy="50292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7" name="Image 0" descr="/home/claude/icons/ra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9277" y="226199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9260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for Rain in Central Zone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extra vehicles ready in Central zone before evening rain, so demand spikes don't cause long delays.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1874520"/>
            <a:ext cx="3474720" cy="4206240"/>
          </a:xfrm>
          <a:prstGeom prst="roundRect">
            <a:avLst>
              <a:gd name="adj" fmla="val 3684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B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7040880" y="2148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icons/clock_B850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037" y="2261997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29260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Vehicles in South Zone Mornings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72000" y="379476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B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more vehicles to South zone before 7–8 AM to handle the morning rush and cut waiting time.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38160" y="1874520"/>
            <a:ext cx="3474720" cy="420624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36676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C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10835640" y="2148840"/>
            <a:ext cx="502920" cy="50292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19" name="Image 2" descr="/home/claude/icons/mapp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8797" y="2261997"/>
            <a:ext cx="276606" cy="27660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66760" y="29260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on the 10 Underserved Areas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66760" y="379476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bus stops, frequency, and vehicle availability in Red Hills, Madhavaram, Perambur, and 7 other low-scoring areas.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Equality &amp; Access — Chennai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4712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insights and 3 recommendations, in one place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26364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B8B0A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/home/claude/icons/barch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0688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659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Key Insights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77240" y="2606040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606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34440" y="2551176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Chennai's overall mobility score is 71.8 out of 100 — a moderate score, but access is very uneven across the city.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" y="3319272"/>
            <a:ext cx="310896" cy="310896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319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34440" y="3264408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Nagar, Adyar, and Guindy are the best-served areas, all scoring above 87 out of 100.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4032504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40325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234440" y="39776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Hills, Madhavaram, and Perambur are the weakest, all scoring below 53 — well under the underserved line of 60.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" y="4745736"/>
            <a:ext cx="310896" cy="310896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7457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34440" y="469087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areas score 69.9 on average, about 5 points behind high-income areas (74.5) — a fairness gap worth closing.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77240" y="5458968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458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34440" y="5404104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has the highest ride demand, and heavy rain combined with rush hour causes the sharpest demand spikes.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995160" y="1783080"/>
            <a:ext cx="4617720" cy="4343400"/>
          </a:xfrm>
          <a:prstGeom prst="roundRect">
            <a:avLst>
              <a:gd name="adj" fmla="val 2947"/>
            </a:avLst>
          </a:prstGeom>
          <a:solidFill>
            <a:srgbClr val="B85042"/>
          </a:solidFill>
          <a:ln/>
        </p:spPr>
      </p:sp>
      <p:sp>
        <p:nvSpPr>
          <p:cNvPr id="24" name="Shape 21"/>
          <p:cNvSpPr/>
          <p:nvPr/>
        </p:nvSpPr>
        <p:spPr>
          <a:xfrm>
            <a:off x="7223760" y="19659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1" descr="/home/claude/icons/target_B850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630" y="2068830"/>
            <a:ext cx="251460" cy="2514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81812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Recommendations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7223760" y="26060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2" descr="/home/claude/icons/rain_B8504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400" y="2700680"/>
            <a:ext cx="231343" cy="231343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772400" y="25694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for rain in Central zone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7772400" y="2926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B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 extra vehicles before evening rain.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7223760" y="377647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3" descr="/home/claude/icons/clock_B8504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400" y="3871112"/>
            <a:ext cx="231343" cy="231343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772400" y="37398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South zone in the morning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772400" y="40965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B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vehicles before the 7–8 AM rush hour.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7223760" y="494690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4" descr="/home/claude/icons/mappin_B8504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400" y="5041544"/>
            <a:ext cx="231343" cy="231343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772400" y="49103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10 underserved areas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7772400" y="526694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B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stops, frequency, and vehicles there first.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Equality &amp; Access — Chennai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24712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B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4" name="Shape 2"/>
          <p:cNvSpPr/>
          <p:nvPr/>
        </p:nvSpPr>
        <p:spPr>
          <a:xfrm>
            <a:off x="5349240" y="1920240"/>
            <a:ext cx="914400" cy="9144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5" name="Image 0" descr="/home/claude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4980" y="21259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0632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71600" y="3474720"/>
            <a:ext cx="94457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Chennai moves fairly well overall — now let's make sure</a:t>
            </a:r>
            <a:endParaRPr lang="en-US" sz="2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area, and every income group, moves well too.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0" y="50292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0" y="55778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2026-09-02T03:14:06Z</dcterms:created>
  <dcterms:modified xsi:type="dcterms:W3CDTF">2026-09-02T03:14:06Z</dcterms:modified>
</cp:coreProperties>
</file>